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217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76" r:id="rId6"/>
    <p:sldId id="260" r:id="rId7"/>
    <p:sldId id="261" r:id="rId8"/>
    <p:sldId id="262" r:id="rId9"/>
    <p:sldId id="279" r:id="rId10"/>
    <p:sldId id="277" r:id="rId11"/>
    <p:sldId id="278" r:id="rId12"/>
    <p:sldId id="281" r:id="rId13"/>
    <p:sldId id="282" r:id="rId14"/>
    <p:sldId id="283" r:id="rId15"/>
    <p:sldId id="284" r:id="rId16"/>
    <p:sldId id="285" r:id="rId17"/>
    <p:sldId id="287" r:id="rId18"/>
    <p:sldId id="288" r:id="rId19"/>
    <p:sldId id="290" r:id="rId20"/>
    <p:sldId id="291" r:id="rId21"/>
    <p:sldId id="292" r:id="rId22"/>
    <p:sldId id="294" r:id="rId23"/>
    <p:sldId id="295" r:id="rId24"/>
    <p:sldId id="305" r:id="rId25"/>
    <p:sldId id="306" r:id="rId26"/>
    <p:sldId id="307" r:id="rId27"/>
    <p:sldId id="308" r:id="rId28"/>
    <p:sldId id="296" r:id="rId29"/>
    <p:sldId id="297" r:id="rId30"/>
    <p:sldId id="298" r:id="rId31"/>
    <p:sldId id="299" r:id="rId32"/>
    <p:sldId id="300" r:id="rId33"/>
    <p:sldId id="30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5B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6"/>
    <p:restoredTop sz="95775"/>
  </p:normalViewPr>
  <p:slideViewPr>
    <p:cSldViewPr snapToGrid="0">
      <p:cViewPr varScale="1">
        <p:scale>
          <a:sx n="41" d="100"/>
          <a:sy n="41" d="100"/>
        </p:scale>
        <p:origin x="48" y="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9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51E4242-5EB7-1140-6D98-2C9608B567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E5A8A-5865-DA32-DD50-D9814FB0B26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D254F3-0531-0542-8940-2898E645D95A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A21EB-540A-5867-0FB8-2CC26257A6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B09B8-7B76-551E-73E6-45C0E7F0A6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3E1C7-C46A-8245-B1DC-B5A65B28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211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1587E-E822-7243-A082-C1082DCFCEAC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FCB4C2-4758-BD44-BA0E-CF1DC902B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382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419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49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78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6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0BA74-6308-2F4D-82F4-294A45D1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69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76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7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19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59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49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65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8608D-9354-A5C2-3263-3D4C08A77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CF59EE-C014-92E4-79E6-64A0325AC3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21F3B9C-58D6-8F4F-AAD1-D6C5BF45B8BE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4AB88-F33C-450C-6DC2-94AE55F7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D1E0F-99D3-5C65-8334-7B88692A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0BA74-6308-2F4D-82F4-294A45D1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98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0BA74-6308-2F4D-82F4-294A45D1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212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18" r:id="rId1"/>
    <p:sldLayoutId id="2147484219" r:id="rId2"/>
    <p:sldLayoutId id="2147484220" r:id="rId3"/>
    <p:sldLayoutId id="2147484221" r:id="rId4"/>
    <p:sldLayoutId id="2147484222" r:id="rId5"/>
    <p:sldLayoutId id="2147484223" r:id="rId6"/>
    <p:sldLayoutId id="2147484224" r:id="rId7"/>
    <p:sldLayoutId id="2147484225" r:id="rId8"/>
    <p:sldLayoutId id="2147484226" r:id="rId9"/>
    <p:sldLayoutId id="2147484227" r:id="rId10"/>
    <p:sldLayoutId id="2147484228" r:id="rId11"/>
    <p:sldLayoutId id="214748371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A57A275-3EE1-E638-6B7C-2B29F9ACB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1462" y="2569907"/>
            <a:ext cx="8029076" cy="1160213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Appium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C8DF426-DB52-0759-DC36-A27CE98DD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838" y="400050"/>
            <a:ext cx="2507750" cy="82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66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Define Mobile Automation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874153"/>
          </a:xfrm>
        </p:spPr>
        <p:txBody>
          <a:bodyPr anchor="t">
            <a:noAutofit/>
          </a:bodyPr>
          <a:lstStyle/>
          <a:p>
            <a:pPr marL="0" indent="0" algn="l">
              <a:buNone/>
            </a:pPr>
            <a:r>
              <a:rPr lang="en-US" sz="2400" b="0" i="0" dirty="0">
                <a:solidFill>
                  <a:srgbClr val="FFFFFF"/>
                </a:solidFill>
                <a:effectLst/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Mobile automation testing refers to the process of automating the testing of mobile applications across different devices, operating systems, and scenarios.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Script Creation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scripts are created using automation testing frameworks or tools. </a:t>
            </a:r>
            <a:endParaRPr lang="en-US" sz="2400" b="0" i="0" dirty="0">
              <a:solidFill>
                <a:srgbClr val="FFFFFF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Cross-platform Testing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automation testing allows for testing applications across different platforms such as iOS and Android. </a:t>
            </a: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UI Testing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Interface (UI) testing focuses on verifying the visual elements and interactions of the mobile application. </a:t>
            </a: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 Testing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automation testing verifies the functional aspects of the application, such as validating user inputs, checking data processing, and verifying the correctness of the output. </a:t>
            </a: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IN" sz="2400" b="0" i="0" dirty="0">
              <a:solidFill>
                <a:srgbClr val="FFFFFF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18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Define Mobile Automation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874153"/>
          </a:xfrm>
        </p:spPr>
        <p:txBody>
          <a:bodyPr anchor="t">
            <a:noAutofit/>
          </a:bodyPr>
          <a:lstStyle/>
          <a:p>
            <a:pPr marL="457200" indent="-457200">
              <a:buAutoNum type="arabicPeriod" startAt="5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Testing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automation testing can include performance testing to evaluate the responsiveness, speed, and stability of the application under various load conditions. </a:t>
            </a: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6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Compatibility Testing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automation testing enables testing on a variety of devices, screen sizes, and resolutions. </a:t>
            </a: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7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Integration Testing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automation testing allows for testing the integration of mobile applications with external systems or services. </a:t>
            </a:r>
          </a:p>
          <a:p>
            <a:pPr marL="457200" indent="-457200">
              <a:buAutoNum type="arabicPeriod" startAt="7"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endParaRPr lang="en-IN" sz="2400" b="0" i="0" dirty="0">
              <a:solidFill>
                <a:srgbClr val="D1D5DB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4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Different Mobile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874153"/>
          </a:xfrm>
        </p:spPr>
        <p:txBody>
          <a:bodyPr anchor="t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Android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Developed by Google, Android is the most widely used mobile platform globally. </a:t>
            </a: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iOS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Developed by Apple, iOS is the operating system used exclusively on Apple devices, such as iPhone, iPad, and iPod Touch. </a:t>
            </a: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Windows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Microsoft's Windows operating system is also available for mobile devices. </a:t>
            </a: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BlackBerry OS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Developed by BlackBerry Limited, BlackBerry OS was once a popular mobile platform known for its strong security features, business-focused capabilities, and physical keyboards. </a:t>
            </a: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Tizen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Tizen is an open-source operating system primarily developed by Samsung, but it is also backed by other companies like Intel and the Linux Foundation. </a:t>
            </a: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KaiOS</a:t>
            </a: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IN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KaiOS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lightweight operating system designed for feature phones with limited hardware capabilities.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IN" sz="2400" b="0" i="0" dirty="0">
              <a:solidFill>
                <a:srgbClr val="D1D5DB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43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Types of Mobile Testing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874153"/>
          </a:xfrm>
        </p:spPr>
        <p:txBody>
          <a:bodyPr anchor="t">
            <a:noAutofit/>
          </a:bodyPr>
          <a:lstStyle/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Functionality 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Usability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</a:t>
            </a:r>
          </a:p>
          <a:p>
            <a:pPr marL="342900" lvl="0" indent="-342900"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Compatibility </a:t>
            </a: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Localization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Interrupt </a:t>
            </a: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Installation and Upgrade </a:t>
            </a:r>
            <a:endParaRPr lang="en-IN" sz="2400" kern="100" dirty="0"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66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Approaches to Mobile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592217"/>
          </a:xfrm>
        </p:spPr>
        <p:txBody>
          <a:bodyPr anchor="t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Manual Testing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Manual testing involves human testers manually executing test cases and interacting with the mobile application. </a:t>
            </a: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Testing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testing involves using software tools or frameworks to automate the execution of test cases. </a:t>
            </a: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Emulator/Simulator Testing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Emulators and simulators are software-based tools that mimic the behaviour of mobile devices and operating systems on a computer. </a:t>
            </a: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 Device Testing: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 device testing involves testing the mobile application on actual physical devices, such as smartphones and tablets. </a:t>
            </a: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Crowd Testing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Crowd testing involves leveraging a community of testers from diverse backgrounds and locations to test the mobile application. </a:t>
            </a: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Beta Testing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Beta testing involves releasing the mobile application to a limited group of end-users or external testers to test it in real-world scenarios.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IN" sz="2400" b="0" i="0" dirty="0">
              <a:solidFill>
                <a:srgbClr val="D1D5DB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E9FD921-2069-1F54-5354-A9B4AA7D4031}"/>
              </a:ext>
            </a:extLst>
          </p:cNvPr>
          <p:cNvSpPr txBox="1">
            <a:spLocks/>
          </p:cNvSpPr>
          <p:nvPr/>
        </p:nvSpPr>
        <p:spPr>
          <a:xfrm>
            <a:off x="166866" y="2250572"/>
            <a:ext cx="10515600" cy="792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dirty="0">
              <a:solidFill>
                <a:srgbClr val="0070C0"/>
              </a:solidFill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119D9DB-B705-3E7B-1665-90737B03A29F}"/>
              </a:ext>
            </a:extLst>
          </p:cNvPr>
          <p:cNvSpPr txBox="1">
            <a:spLocks/>
          </p:cNvSpPr>
          <p:nvPr/>
        </p:nvSpPr>
        <p:spPr>
          <a:xfrm>
            <a:off x="223777" y="4210028"/>
            <a:ext cx="10515600" cy="603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dirty="0">
              <a:solidFill>
                <a:srgbClr val="0070C0"/>
              </a:solidFill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21934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Levels of Mobile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385383"/>
          </a:xfrm>
        </p:spPr>
        <p:txBody>
          <a:bodyPr anchor="t">
            <a:no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Testing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Integration Testing</a:t>
            </a: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 Testing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Testing</a:t>
            </a: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Usability Testing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Testing</a:t>
            </a: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Compatibility Testing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 Testing</a:t>
            </a: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Acceptance Testing</a:t>
            </a:r>
            <a:endParaRPr lang="en-IN" sz="2400" b="0" i="0" dirty="0"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051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Life Cycle of mobile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385383"/>
          </a:xfrm>
        </p:spPr>
        <p:txBody>
          <a:bodyPr anchor="t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Planning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this initial phase, the testing team defines the scope, objectives, and testing requirements for the mobile application. </a:t>
            </a: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Environment Setup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testing team sets up the necessary test environment, which includes acquiring physical devices, emulators, simulators, and configuring the required software. </a:t>
            </a: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Case Design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cases are created based on the requirements and specifications of the mobile application. </a:t>
            </a: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Execution : 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execution is the phase where the actual testing takes place</a:t>
            </a: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Defect Management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Defects and issues discovered during the test execution phase are reported, tracked, and managed. </a:t>
            </a: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Reporting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Throughout the testing life cycle, test reports are generated to provide an overview of the testing activities, progress, and results.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Completion and Sign-Off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Once the test execution and defect resolution processes are complete, the testing team evaluates the test results against the defined test objectives and acceptance criteria.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IN" sz="2400" b="0" i="0" dirty="0">
              <a:solidFill>
                <a:srgbClr val="D1D5DB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56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Introduction to Appium and Appium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874153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Appium : 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Appium is an open-source test automation framework used for mobile applications. Appium supports native, hybrid, and mobile web applications, making it a versatile tool for mobile test automation. 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Appium Architecture: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Appium Server : 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Appium Server is a critical component that acts as a bridge between the test scripts and the mobile devices/emulators. 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WebDriver JSON Wire Protocol: 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Appium utilizes the WebDriver JSON Wire Protocol to enable communication between the Appium Server and the test scripts. 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Desired Capabilities: 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Desired Capabilities are a set of key-value pairs that define the desired behaviour and configuration for the mobile session. 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Automation Driver: 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Automation Driver is responsible for interacting with the native automation frameworks provided by the respective platforms (such as UI Automator for Android and XCUI Test for iOS).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Mobile Application: 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mobile application under test is an essential component of the Appium architecture. 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IN" sz="2400" b="0" i="0" dirty="0">
              <a:solidFill>
                <a:srgbClr val="FFFFFF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25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Appium Inspector to find locators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385383"/>
          </a:xfrm>
        </p:spPr>
        <p:txBody>
          <a:bodyPr anchor="t">
            <a:noAutofit/>
          </a:bodyPr>
          <a:lstStyle/>
          <a:p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Appium Inspector is a tool that allows you to inspect and find locators for the UI elements of a mobile application. </a:t>
            </a:r>
            <a:endParaRPr lang="en-IN" sz="2400" dirty="0">
              <a:solidFill>
                <a:srgbClr val="00B05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Launch the Appium Inspector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 a Device or Emulator</a:t>
            </a:r>
            <a:endParaRPr lang="en-IN" sz="24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Configure Desired Capabilities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 a New Session</a:t>
            </a:r>
            <a:endParaRPr lang="en-IN" sz="24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Inspect the UI Hierarchy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UI Element Properties</a:t>
            </a:r>
            <a:endParaRPr lang="en-IN" sz="24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 Locators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Copy Locators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b="0" i="0" dirty="0">
              <a:solidFill>
                <a:srgbClr val="D1D5DB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30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Automate an app on a virtual Android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385383"/>
          </a:xfrm>
        </p:spPr>
        <p:txBody>
          <a:bodyPr anchor="t">
            <a:no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400" b="0" i="0" dirty="0">
                <a:solidFill>
                  <a:srgbClr val="D1D5DB"/>
                </a:solidFill>
                <a:effectLst/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Set up the Android Virtual Device (AVD)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b="0" i="0" dirty="0">
                <a:solidFill>
                  <a:srgbClr val="D1D5DB"/>
                </a:solidFill>
                <a:effectLst/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Set up the Desired Capabilities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b="0" i="0" dirty="0">
                <a:solidFill>
                  <a:srgbClr val="D1D5DB"/>
                </a:solidFill>
                <a:effectLst/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Start the Appium Server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b="0" i="0" dirty="0">
                <a:solidFill>
                  <a:srgbClr val="D1D5DB"/>
                </a:solidFill>
                <a:effectLst/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Create and Initialize the Appium Driver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0" i="0" dirty="0">
                <a:solidFill>
                  <a:srgbClr val="D1D5DB"/>
                </a:solidFill>
                <a:effectLst/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Automate the App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b="0" i="0" dirty="0">
                <a:solidFill>
                  <a:srgbClr val="D1D5DB"/>
                </a:solidFill>
                <a:effectLst/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Perform Assertions and Verifications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b="0" i="0" dirty="0">
                <a:solidFill>
                  <a:srgbClr val="D1D5DB"/>
                </a:solidFill>
                <a:effectLst/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Clean Up and Quit the Driver</a:t>
            </a:r>
            <a:endParaRPr lang="en-IN" sz="2400" b="0" i="0" dirty="0">
              <a:solidFill>
                <a:srgbClr val="D1D5DB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26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Appium Installation and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874153"/>
          </a:xfrm>
        </p:spPr>
        <p:txBody>
          <a:bodyPr anchor="t">
            <a:noAutofit/>
          </a:bodyPr>
          <a:lstStyle/>
          <a:p>
            <a:pPr marL="0" indent="0" algn="l">
              <a:buNone/>
            </a:pPr>
            <a:r>
              <a:rPr lang="en-US" sz="2400" b="0" i="0" dirty="0">
                <a:solidFill>
                  <a:srgbClr val="D1D5DB"/>
                </a:solidFill>
                <a:effectLst/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To install and configure Appium, follow these steps 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Prerequisites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Install Appium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Install Appium Dependencies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Configure Appium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 the Appium Server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583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Appium UI Automator viewer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874153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Appium UI Automator Viewer is a tool that helps inspect and </a:t>
            </a:r>
            <a:r>
              <a:rPr lang="en-IN" sz="24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user interface (UI) elements of a mobile application.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Launch the Appium UI Automator Viewer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 a Device or Emulator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Capture the UI Hierarchy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UI Hierarchy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Inspect UI Elements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Capture Screenshots and Export XML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IN" sz="2400" kern="100" dirty="0"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55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Commonly used ADB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6"/>
            <a:ext cx="11616161" cy="5684982"/>
          </a:xfrm>
        </p:spPr>
        <p:txBody>
          <a:bodyPr anchor="t">
            <a:no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devices: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install &lt;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path_to_apk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uninstall &lt;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package_name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shell:</a:t>
            </a:r>
            <a:endParaRPr lang="en-IN" sz="24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logcat: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pull &lt;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remote_path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 &lt;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local_path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push &lt;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local_path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 &lt;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remote_path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am start -n &lt;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package_name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&gt;/&lt;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activity_name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am force-stop &lt;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package_name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input 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keyevent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key_code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E9FD921-2069-1F54-5354-A9B4AA7D4031}"/>
              </a:ext>
            </a:extLst>
          </p:cNvPr>
          <p:cNvSpPr txBox="1">
            <a:spLocks/>
          </p:cNvSpPr>
          <p:nvPr/>
        </p:nvSpPr>
        <p:spPr>
          <a:xfrm>
            <a:off x="166866" y="2250572"/>
            <a:ext cx="10515600" cy="792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dirty="0">
              <a:solidFill>
                <a:srgbClr val="0070C0"/>
              </a:solidFill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41418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Commonly used ADB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385383"/>
          </a:xfrm>
        </p:spPr>
        <p:txBody>
          <a:bodyPr anchor="t">
            <a:noAutofit/>
          </a:bodyPr>
          <a:lstStyle/>
          <a:p>
            <a:pPr marL="457200" indent="-457200" algn="l">
              <a:buAutoNum type="arabicPeriod" startAt="11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screencap &lt;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file_path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AutoNum type="arabicPeriod" startAt="12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screenrecord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file_path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57200" indent="-457200" algn="l">
              <a:buAutoNum type="arabicPeriod" startAt="13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dumpsys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service_name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AutoNum type="arabicPeriod" startAt="14"/>
            </a:pP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  <a:r>
              <a:rPr lang="en-IN" sz="240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wm</a:t>
            </a:r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size</a:t>
            </a:r>
            <a:endParaRPr lang="en-IN" sz="2400" b="0" i="0" dirty="0">
              <a:solidFill>
                <a:srgbClr val="D1D5DB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pPr algn="l"/>
            <a:endParaRPr lang="en-IN" sz="2400" b="0" i="0" dirty="0"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2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Starting the Appium server with advanced option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385383"/>
          </a:xfrm>
        </p:spPr>
        <p:txBody>
          <a:bodyPr anchor="t">
            <a:noAutofit/>
          </a:bodyPr>
          <a:lstStyle/>
          <a:p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 a terminal or command prompt.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Specify the advanced options based on your requirements. 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the desired advanced options to the Appium command. 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Press Enter to execute the command.</a:t>
            </a:r>
            <a:endParaRPr lang="en-IN" sz="2400" b="0" i="0" dirty="0">
              <a:solidFill>
                <a:srgbClr val="D1D5DB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30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911413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Automate App management such as Installing, Un-Installing, Reset, Closing the App in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1166191"/>
            <a:ext cx="11616161" cy="5596057"/>
          </a:xfrm>
        </p:spPr>
        <p:txBody>
          <a:bodyPr anchor="t">
            <a:noAutofit/>
          </a:bodyPr>
          <a:lstStyle/>
          <a:p>
            <a:pPr>
              <a:buFont typeface="+mj-lt"/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Installing an App: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</a:t>
            </a:r>
            <a:r>
              <a:rPr lang="en-IN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installApp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method of the Appium driver to install an application on the device or emulator.</a:t>
            </a:r>
          </a:p>
          <a:p>
            <a:pPr>
              <a:buFont typeface="+mj-lt"/>
              <a:buAutoNum type="arabicPeriod"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Uninstalling an App: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</a:t>
            </a:r>
            <a:r>
              <a:rPr lang="en-IN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removeApp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method of the Appium driver to uninstall an application from the device or emulator.</a:t>
            </a:r>
          </a:p>
          <a:p>
            <a:pPr>
              <a:buFont typeface="+mj-lt"/>
              <a:buAutoNum type="arabicPeriod"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Resetting an App: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</a:t>
            </a:r>
            <a:r>
              <a:rPr lang="en-IN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resetApp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method of the Appium driver to reset the application to its initial state.</a:t>
            </a:r>
          </a:p>
          <a:p>
            <a:pPr>
              <a:buFont typeface="+mj-lt"/>
              <a:buAutoNum type="arabicPeriod"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Closing the App in Background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Use the </a:t>
            </a:r>
            <a:r>
              <a:rPr lang="en-IN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closeApp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method of the Appium driver to close the application.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endParaRPr lang="en-IN" sz="2400" b="0" i="0" dirty="0">
              <a:solidFill>
                <a:srgbClr val="D1D5DB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2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Implementing Assertion in Appium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874153"/>
          </a:xfrm>
        </p:spPr>
        <p:txBody>
          <a:bodyPr anchor="t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 the necessary assertion class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 the actions and capture the actual result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Define the expected result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Compare the actual and expected results using assertions: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assertEquals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compare two values and assert that they are equal: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assertTrue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assert that a condition is true: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assertFalse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assert that a condition is false: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assertNotNull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assert that a value is not null: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assertNull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assert that a value is null: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assertSame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assert that two objects refer to the same object: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assertNotSame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assert that two objects do not refer to the same object: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026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Appium Test with TestNG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6"/>
            <a:ext cx="11616161" cy="5874152"/>
          </a:xfrm>
        </p:spPr>
        <p:txBody>
          <a:bodyPr anchor="t">
            <a:noAutofit/>
          </a:bodyPr>
          <a:lstStyle/>
          <a:p>
            <a:pPr marL="457200" indent="-457200"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Up TestNG and Appium</a:t>
            </a:r>
          </a:p>
          <a:p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Ensure that you have TestNG installed in your project. You can add TestNG as a dependency in your project's build file (e.g., Maven or Gradle) or by manually including the TestNG JAR files.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2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Write TestNG Test Cases</a:t>
            </a:r>
          </a:p>
          <a:p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new Java class and annotate it with the @Test annotation from the TestNG framework.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Write individual test methods within the class, each representing a specific test case.</a:t>
            </a:r>
            <a:endParaRPr lang="en-IN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3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Configure TestNG XML File (Optional)</a:t>
            </a:r>
          </a:p>
          <a:p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 can create a TestNG XML file to configure your test suite, test groups, parallel execution, and other settings.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4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Run Tests with TestNG</a:t>
            </a:r>
          </a:p>
          <a:p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Run the test class directly from your IDE by right-clicking on the test class and selecting "Run as TestNG Test."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40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E9FD921-2069-1F54-5354-A9B4AA7D4031}"/>
              </a:ext>
            </a:extLst>
          </p:cNvPr>
          <p:cNvSpPr txBox="1">
            <a:spLocks/>
          </p:cNvSpPr>
          <p:nvPr/>
        </p:nvSpPr>
        <p:spPr>
          <a:xfrm>
            <a:off x="166866" y="2250572"/>
            <a:ext cx="10515600" cy="792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dirty="0">
              <a:solidFill>
                <a:srgbClr val="0070C0"/>
              </a:solidFill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44737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140174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Automate gestures on Android App such as Touch Action, Scroll, Tapping, Long press, Swiping and Orientation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1378226"/>
            <a:ext cx="11616161" cy="5384022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automate gestures on an Android app using Appium, you can utilize the </a:t>
            </a:r>
            <a:r>
              <a:rPr lang="en-IN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TouchAction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class and various methods available in the </a:t>
            </a:r>
            <a:r>
              <a:rPr lang="en-IN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MobileElement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class</a:t>
            </a:r>
            <a:r>
              <a:rPr lang="en-IN" sz="2400" kern="1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Touch Action (Tap)</a:t>
            </a:r>
            <a:endParaRPr lang="en-IN" sz="24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Touch Action (Long Press)</a:t>
            </a:r>
            <a:endParaRPr lang="en-IN" sz="24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Touch Action (Swipe)</a:t>
            </a:r>
            <a:endParaRPr lang="en-IN" sz="24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Scroll</a:t>
            </a:r>
            <a:endParaRPr lang="en-IN" sz="24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Orientation (Landscape)</a:t>
            </a:r>
            <a:endParaRPr lang="en-IN" sz="24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Orientation (Portrait)</a:t>
            </a:r>
            <a:endParaRPr lang="en-IN" sz="24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IN" sz="2400" b="0" i="0" dirty="0">
              <a:solidFill>
                <a:srgbClr val="FFFFFF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502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114995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Automating Mouse Hovering like Move To, Double Click, Button Down, Button Up </a:t>
            </a:r>
            <a:r>
              <a:rPr lang="en-US" sz="3600" dirty="0" err="1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etc</a:t>
            </a:r>
            <a:endParaRPr lang="en-US" sz="3600" dirty="0">
              <a:solidFill>
                <a:srgbClr val="0070C0"/>
              </a:solidFill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1245704"/>
            <a:ext cx="11616161" cy="5516544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automating mouse hovering and interactions using Appium, you can utilize the Actions class to perform actions like move to, double click, button down, button up, etc.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IN" sz="24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Actions class from Selenium WebDriver is used to perform mouse interactions. </a:t>
            </a:r>
          </a:p>
          <a:p>
            <a:pPr>
              <a:buFont typeface="+mj-lt"/>
              <a:buAutoNum type="arabicPeriod"/>
            </a:pPr>
            <a:endParaRPr lang="en-IN" sz="2400" kern="1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moveToElement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 moves the mouse cursor to the specified element.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doubleClick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performs a double click action.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clickAndHold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holds down the mouse button.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release()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releases the mouse button.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endParaRPr lang="en-IN" sz="2400" b="0" i="0" dirty="0">
              <a:solidFill>
                <a:srgbClr val="D1D5DB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139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Automate Android Key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874153"/>
          </a:xfrm>
        </p:spPr>
        <p:txBody>
          <a:bodyPr anchor="t">
            <a:noAutofit/>
          </a:bodyPr>
          <a:lstStyle/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automate Android key events using Appium, you can utilize the </a:t>
            </a: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AndroidKey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enum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provided by the 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Appium Java client library. </a:t>
            </a:r>
            <a:endParaRPr lang="en-IN" sz="24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Pressing a Key: </a:t>
            </a: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pressKey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is used to send a key event to the device.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Long Pressing a Key: </a:t>
            </a:r>
            <a:r>
              <a:rPr lang="en-IN" sz="24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KeyEventFlag.LONG_PRESS</a:t>
            </a: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event to indicate a long press action.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Sending Special Key Codes: Key event is sent for a special key code (F1).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</a:pPr>
            <a:endParaRPr lang="en-IN" sz="2400" kern="100" dirty="0"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538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98770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Automate Drag and Drop, Pinch and Zoom, Alert gestures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1083458"/>
            <a:ext cx="11616161" cy="5145064"/>
          </a:xfrm>
        </p:spPr>
        <p:txBody>
          <a:bodyPr anchor="t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Drag and Drop: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 locate the source and target elements for the drag and drop operation.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Then, using the </a:t>
            </a:r>
            <a:r>
              <a:rPr lang="en-IN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TouchAction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class, you perform a long press on the source element, move it to the target element, and release the touch to complete the drag and drop action.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Pinch and Zoom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 calculate the </a:t>
            </a:r>
            <a:r>
              <a:rPr lang="en-IN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center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coordinates of the element, and then using </a:t>
            </a:r>
            <a:r>
              <a:rPr lang="en-IN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TouchAction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you create two separate actions to move the element towards or away from the </a:t>
            </a:r>
            <a:r>
              <a:rPr lang="en-IN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center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Finally, you use </a:t>
            </a:r>
            <a:r>
              <a:rPr lang="en-IN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MultiTouchAction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combine and perform both actions simultaneously, simulating a pinch and zoom gesture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Alert Gestures : </a:t>
            </a:r>
            <a:r>
              <a:rPr lang="en-IN" sz="24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 switch to the alert context using </a:t>
            </a:r>
            <a:r>
              <a:rPr lang="en-IN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driver.switchTo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().alert(). you can either accept the alert by calling </a:t>
            </a:r>
            <a:r>
              <a:rPr lang="en-IN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alert.accept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or dismiss it by calling </a:t>
            </a:r>
            <a:r>
              <a:rPr lang="en-IN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alert.dismiss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().</a:t>
            </a:r>
            <a:endParaRPr lang="en-IN" sz="2400" b="0" i="0" dirty="0">
              <a:solidFill>
                <a:srgbClr val="D1D5DB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E9FD921-2069-1F54-5354-A9B4AA7D4031}"/>
              </a:ext>
            </a:extLst>
          </p:cNvPr>
          <p:cNvSpPr txBox="1">
            <a:spLocks/>
          </p:cNvSpPr>
          <p:nvPr/>
        </p:nvSpPr>
        <p:spPr>
          <a:xfrm>
            <a:off x="166866" y="2250572"/>
            <a:ext cx="10515600" cy="792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dirty="0">
              <a:solidFill>
                <a:srgbClr val="0070C0"/>
              </a:solidFill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119D9DB-B705-3E7B-1665-90737B03A29F}"/>
              </a:ext>
            </a:extLst>
          </p:cNvPr>
          <p:cNvSpPr txBox="1">
            <a:spLocks/>
          </p:cNvSpPr>
          <p:nvPr/>
        </p:nvSpPr>
        <p:spPr>
          <a:xfrm>
            <a:off x="223777" y="4210028"/>
            <a:ext cx="10515600" cy="603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dirty="0">
              <a:solidFill>
                <a:srgbClr val="0070C0"/>
              </a:solidFill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10753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140174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Read the Notifications from the Notification Bar</a:t>
            </a:r>
            <a:b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</a:br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1378226"/>
            <a:ext cx="11616161" cy="5384022"/>
          </a:xfrm>
        </p:spPr>
        <p:txBody>
          <a:bodyPr anchor="t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the Required Capabilities :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configuring your Appium session, make sure to set the necessary capabilities to interact with the notification bar. </a:t>
            </a: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 the Notification Shade : 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Appium </a:t>
            </a:r>
            <a:r>
              <a:rPr lang="en-IN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openNotifications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method to open the notification shade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Access the Notification Elements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Once the notification shade is open, you can locate and interact with the notification elements as you would with any other elements on the screen. </a:t>
            </a: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Read the Notification Content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Retrieve the notification content by accessing the text or attributes of the notification elements.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IN" sz="2400" b="0" i="0" dirty="0">
              <a:solidFill>
                <a:srgbClr val="FFFFFF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45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114995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Automate Networking Configurations such as to Toggle Airplane Mode, Toggle Data, Toggle Wi-Fi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1245704"/>
            <a:ext cx="11616161" cy="5516544"/>
          </a:xfrm>
        </p:spPr>
        <p:txBody>
          <a:bodyPr anchor="t">
            <a:noAutofit/>
          </a:bodyPr>
          <a:lstStyle/>
          <a:p>
            <a:pPr algn="l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the Required Capabilities : 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configuring your Appium session, make sure to set the necessary capabilities to interact with the device's networking configurations. </a:t>
            </a:r>
          </a:p>
          <a:p>
            <a:pPr algn="l">
              <a:buFont typeface="+mj-lt"/>
              <a:buAutoNum type="arabicPeriod"/>
            </a:pP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Toggle Airplane Mode: 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Appium driver's </a:t>
            </a:r>
            <a:r>
              <a:rPr lang="en-IN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toggleAirplaneMode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method to enable or disable Airplane Mode. </a:t>
            </a:r>
          </a:p>
          <a:p>
            <a:pPr>
              <a:buFont typeface="+mj-lt"/>
              <a:buAutoNum type="arabicPeriod"/>
            </a:pP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Toggle Data</a:t>
            </a:r>
            <a:r>
              <a:rPr lang="en-IN" sz="2400" dirty="0">
                <a:solidFill>
                  <a:srgbClr val="00B050"/>
                </a:solidFill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Appium driver's </a:t>
            </a:r>
            <a:r>
              <a:rPr lang="en-IN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toggleData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method to enable or disable mobile data</a:t>
            </a:r>
            <a:r>
              <a:rPr lang="en-IN" sz="24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Toggle Wi-Fi : 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Appium driver's </a:t>
            </a:r>
            <a:r>
              <a:rPr lang="en-IN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toggleWifi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method to enable or disable Wi-Fi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endParaRPr lang="en-IN" sz="2400" b="0" i="0" dirty="0">
              <a:solidFill>
                <a:srgbClr val="D1D5DB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451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104393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Automating the App Interactions such as Lock and Unlock and rotate the Android Phone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1139687"/>
            <a:ext cx="11616161" cy="5622561"/>
          </a:xfrm>
        </p:spPr>
        <p:txBody>
          <a:bodyPr anchor="t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Lock and Unlock the Device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automate locking and unlocking the device, you can use the Appium driver's </a:t>
            </a: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lockDevice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IN" sz="2400" kern="1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unlockDevice</a:t>
            </a:r>
            <a:r>
              <a:rPr lang="en-IN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methods. </a:t>
            </a:r>
          </a:p>
          <a:p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lockDevice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method locks the device screen, simulating the user action of pressing the power button.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unlockDevice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method unlocks the device screen, simulating the user action of swiping or entering the device's unlock pattern or PIN.</a:t>
            </a:r>
          </a:p>
          <a:p>
            <a:endParaRPr lang="en-IN" sz="2400" kern="1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buAutoNum type="arabicPeriod" startAt="2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Rotate the Android Phone : 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automate rotating the Android phone to different orientations, you can use the Appium driver's </a:t>
            </a: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‘rotate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 method.</a:t>
            </a:r>
          </a:p>
          <a:p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rotate method allows you to specify the desired orientation using the ‘</a:t>
            </a:r>
            <a:r>
              <a:rPr lang="en-IN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ScreenOrientation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 </a:t>
            </a:r>
            <a:r>
              <a:rPr lang="en-IN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enum</a:t>
            </a:r>
            <a:r>
              <a:rPr lang="en-IN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which includes values such as LANDSCAPE and PORTRAIT.</a:t>
            </a:r>
            <a:endParaRPr lang="en-IN" sz="2400" b="0" i="0" dirty="0">
              <a:solidFill>
                <a:srgbClr val="D1D5DB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60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Get the Performance Data of an Android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874153"/>
          </a:xfrm>
        </p:spPr>
        <p:txBody>
          <a:bodyPr anchor="t">
            <a:noAutofit/>
          </a:bodyPr>
          <a:lstStyle/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the Required Capabilities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configuring your Appium session, make sure to set the necessary capabilities to enable performance data collection.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</a:pP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 Performance Monitoring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After launching the app, you need to start the performance monitoring by using the Appium driver's ‘</a:t>
            </a:r>
            <a:r>
              <a:rPr lang="en-IN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startPerformanceRecord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 method.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</a:pPr>
            <a:endParaRPr lang="en-IN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Interact with the App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 various interactions with the app, such as navigating through different screens, executing specific actions, or conducting tests.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</a:pPr>
            <a:endParaRPr lang="en-IN" sz="24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Stop Performance Monitoring and Retrieve Data : 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After the interactions are completed, you can stop the performance monitoring and retrieve the collected data.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Appium driver's ‘</a:t>
            </a:r>
            <a:r>
              <a:rPr lang="en-IN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stopPerformanceRecord</a:t>
            </a:r>
            <a:r>
              <a:rPr lang="en-IN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 method to stop monitoring and retrieve the performance data.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</a:pPr>
            <a:endParaRPr lang="en-IN" sz="2400" kern="100" dirty="0"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050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89816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Hybrid and Native App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993913"/>
            <a:ext cx="11616161" cy="5768335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Hybrid App Features:</a:t>
            </a:r>
          </a:p>
          <a:p>
            <a:pPr marL="0" indent="0">
              <a:buNone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Cross-Platform Compatibility: </a:t>
            </a: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Hybrid apps are built using web technologies such as HTML, CSS, and JavaScript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 Reusability: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Hybrid apps allow for code reuse across different platforms, as they are developed using web technologies.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Technology Stack: </a:t>
            </a: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Hybrid apps utilize web technologies, enabling developers to leverage existing web development skills and tools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Faster Development Cycle: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Hybrid apps often have shorter development cycles compared to native apps.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kern="1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Offline Functionality: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Hybrid apps can leverage local storage capabilities and caching mechanisms to provide offline functionality.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IN" sz="2400" b="0" i="0" dirty="0">
              <a:solidFill>
                <a:srgbClr val="FFFFFF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0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14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Hybrid and Native App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993913"/>
            <a:ext cx="11616161" cy="5768335"/>
          </a:xfrm>
        </p:spPr>
        <p:txBody>
          <a:bodyPr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Native App Features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Native User Experience</a:t>
            </a:r>
            <a:r>
              <a:rPr lang="en-US" sz="2400" dirty="0">
                <a:solidFill>
                  <a:srgbClr val="00B050"/>
                </a:solidFill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Native apps are built specifically for a particular platform using the platform's native programming language (e.g., Java or Kotlin for Android, Objective-C, or Swift for iOS).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Access to Native APIs and Features</a:t>
            </a:r>
            <a:r>
              <a:rPr lang="en-US" sz="2400" dirty="0">
                <a:solidFill>
                  <a:srgbClr val="00B050"/>
                </a:solidFill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Native apps have direct access to the device's hardware and software features, including camera, GPS, accelerometer, and push notifications.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and Speed</a:t>
            </a:r>
            <a:r>
              <a:rPr lang="en-US" sz="2400" dirty="0">
                <a:solidFill>
                  <a:srgbClr val="00B050"/>
                </a:solidFill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Native apps are known for their superior performance and speed, as they are optimized for the specific platform.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 Store Integration</a:t>
            </a:r>
            <a:r>
              <a:rPr lang="en-US" sz="2400" dirty="0">
                <a:solidFill>
                  <a:srgbClr val="00B050"/>
                </a:solidFill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Native apps can be distributed through official app stores (e.g., Google Play Store for Android, App Store for iOS), providing a streamlined distribution process and access to a wider user base.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Enhanced Security</a:t>
            </a:r>
            <a:r>
              <a:rPr lang="en-US" sz="2400" dirty="0">
                <a:solidFill>
                  <a:srgbClr val="00B050"/>
                </a:solidFill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Native apps can utilize platform-specific security features and frameworks, providing enhanced data protection and secure user interactions.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endParaRPr lang="en-IN" sz="2400" b="0" i="0" dirty="0">
              <a:solidFill>
                <a:srgbClr val="D1D5DB"/>
              </a:solidFill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20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5238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Desired Capabilities for Native and Hybrid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48139"/>
            <a:ext cx="11616161" cy="5914109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Desired Capabilities for Native Apps :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platformName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deviceName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automationName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udid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platformVersion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appPackage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appActivity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bundleId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7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5238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Desired Capabilities for Native and Hybrid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48139"/>
            <a:ext cx="11616161" cy="5914109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Desired Capabilities for Hybrid Apps :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platformName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deviceName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kern="1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automationName</a:t>
            </a:r>
            <a:endParaRPr lang="en-US" sz="2400" kern="1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browserName</a:t>
            </a:r>
            <a:endParaRPr lang="en-US" sz="2400" kern="1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chromedriverExecutable</a:t>
            </a: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en-US" sz="2400" kern="1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safariInitialUrl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52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79234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Activity Lifecycle Testing for Native App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888095"/>
            <a:ext cx="11616161" cy="5874153"/>
          </a:xfrm>
        </p:spPr>
        <p:txBody>
          <a:bodyPr anchor="t">
            <a:noAutofit/>
          </a:bodyPr>
          <a:lstStyle/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Launching the App :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the app's behavior when launching it for the first time.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Pausing and Resuming the App :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the app's behavior when it is paused and then resumed.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Handling Configuration Changes :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the app's behavior when configuration changes occur, such as device rotation or language change.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Navigating Between Activities :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the app's behavior when navigating between different activities within the app.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 Button and Activity Stack : </a:t>
            </a:r>
            <a:r>
              <a:rPr lang="en-US" sz="24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the app's behavior when the back button is pressed.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</a:pPr>
            <a:r>
              <a:rPr lang="en-US" sz="24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Termination and Restarting : </a:t>
            </a: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the app's behavior when it is terminated, either manually or by the system</a:t>
            </a:r>
            <a:endParaRPr lang="en-IN" sz="2400" kern="100" dirty="0"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30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B20-1E76-6A9F-CB8E-19EC3D1A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2" y="95752"/>
            <a:ext cx="10515600" cy="95117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Steps to Automate a Native Android App using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5883-6AF7-B338-14C8-C2AA2475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6" y="1046923"/>
            <a:ext cx="11616161" cy="5715326"/>
          </a:xfrm>
        </p:spPr>
        <p:txBody>
          <a:bodyPr anchor="t">
            <a:noAutofit/>
          </a:bodyPr>
          <a:lstStyle/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Up the Environment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Up Appium</a:t>
            </a:r>
            <a:endParaRPr lang="en-US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Up Android SDK and Emulator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New Java Project</a:t>
            </a:r>
            <a:endParaRPr lang="en-US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Write Test Scripts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Up Appium Driver</a:t>
            </a:r>
            <a:endParaRPr lang="en-US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Interact with the Native App: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Run and Debug the Tests</a:t>
            </a:r>
            <a:endParaRPr lang="en-US" sz="24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Enhance Test Automation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4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Continuously Refine and Maintain Tests</a:t>
            </a:r>
            <a:endParaRPr lang="en-IN" sz="2400" kern="100" dirty="0">
              <a:effectLst/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2FC0C53-299D-5A6E-5AED-F0E1487E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22" y="95752"/>
            <a:ext cx="2479175" cy="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159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20807</TotalTime>
  <Words>2876</Words>
  <Application>Microsoft Office PowerPoint</Application>
  <PresentationFormat>Widescreen</PresentationFormat>
  <Paragraphs>258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Apple Symbols</vt:lpstr>
      <vt:lpstr>Arial</vt:lpstr>
      <vt:lpstr>Calibri</vt:lpstr>
      <vt:lpstr>Calibri Light</vt:lpstr>
      <vt:lpstr>Cambria</vt:lpstr>
      <vt:lpstr>Office Theme</vt:lpstr>
      <vt:lpstr>PowerPoint Presentation</vt:lpstr>
      <vt:lpstr>Define Mobile Automation Testing</vt:lpstr>
      <vt:lpstr>Define Mobile Automation Testing</vt:lpstr>
      <vt:lpstr>Different Mobile Platforms</vt:lpstr>
      <vt:lpstr>Types of Mobile Testing </vt:lpstr>
      <vt:lpstr>Approaches to Mobile Testing</vt:lpstr>
      <vt:lpstr>Levels of Mobile Testing</vt:lpstr>
      <vt:lpstr>Life Cycle of mobile testing</vt:lpstr>
      <vt:lpstr>Introduction to Appium and Appium Architecture</vt:lpstr>
      <vt:lpstr>Appium Inspector to find locators</vt:lpstr>
      <vt:lpstr>Automate an app on a virtual Android device</vt:lpstr>
      <vt:lpstr>Appium Installation and Configuration</vt:lpstr>
      <vt:lpstr>Appium UI Automator viewer usage</vt:lpstr>
      <vt:lpstr>Commonly used ADB commands</vt:lpstr>
      <vt:lpstr>Commonly used ADB commands</vt:lpstr>
      <vt:lpstr>Starting the Appium server with advanced option</vt:lpstr>
      <vt:lpstr>Automate App management such as Installing, Un-Installing, Reset, Closing the App in Background</vt:lpstr>
      <vt:lpstr>Implementing Assertion in Appium Scripts</vt:lpstr>
      <vt:lpstr>Appium Test with TestNG</vt:lpstr>
      <vt:lpstr>Automate gestures on Android App such as Touch Action, Scroll, Tapping, Long press, Swiping and Orientation</vt:lpstr>
      <vt:lpstr>Automating Mouse Hovering like Move To, Double Click, Button Down, Button Up etc</vt:lpstr>
      <vt:lpstr>Automate Android Key Events</vt:lpstr>
      <vt:lpstr>Automate Drag and Drop, Pinch and Zoom, Alert gestures</vt:lpstr>
      <vt:lpstr>Read the Notifications from the Notification Bar Information</vt:lpstr>
      <vt:lpstr>Automate Networking Configurations such as to Toggle Airplane Mode, Toggle Data, Toggle Wi-Fi</vt:lpstr>
      <vt:lpstr>Automating the App Interactions such as Lock and Unlock and rotate the Android Phone</vt:lpstr>
      <vt:lpstr>Get the Performance Data of an Android App</vt:lpstr>
      <vt:lpstr>Hybrid and Native App Features</vt:lpstr>
      <vt:lpstr>Hybrid and Native App Features</vt:lpstr>
      <vt:lpstr>Desired Capabilities for Native and Hybrid Apps</vt:lpstr>
      <vt:lpstr>Desired Capabilities for Native and Hybrid Apps</vt:lpstr>
      <vt:lpstr>Activity Lifecycle Testing for Native App </vt:lpstr>
      <vt:lpstr>Steps to Automate a Native Android App using Java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pooja mourya</dc:creator>
  <cp:lastModifiedBy>Lenovo</cp:lastModifiedBy>
  <cp:revision>55</cp:revision>
  <dcterms:created xsi:type="dcterms:W3CDTF">2023-04-05T09:35:07Z</dcterms:created>
  <dcterms:modified xsi:type="dcterms:W3CDTF">2023-10-05T13:46:39Z</dcterms:modified>
</cp:coreProperties>
</file>